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DFF"/>
                </a:solidFill>
              </a:rPr>
              <a:t>ANTONIO MENEGHETTI FACULDADE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DD"/>
                </a:solidFill>
              </a:rPr>
              <a:t>Sistemas de Informação  |  Projeto de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Desenvolvimento e Avaliação de um
Ecossistema Digital para Gestão de
Associados e Eventos em Entidades
TradicionalistasGaúchas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Yuri Garcia Baptista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</a:rPr>
              <a:t>Orientador: Prof. Dr. Felipe Becker Nunes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</a:rPr>
              <a:t>Restinga Seca, RS  |  Junho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Contextualização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O Movimento Tradicionalista Gaúcho (MTG) reúne +1.700 entidades no 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99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Mais de 100 mil eventos por ano; movimentação de R$ 1,5 bi/ano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39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Associados, invernadas artísticas, bailes e fandangos como eixo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7802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62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O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92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Gestão ainda realizada com planilhas, fichas físicas e comunicação informal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Retrabalho, inconsistências e baixa rastreabilidade das informações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73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Gestores voluntários sobrecarregados e alta rotatividade de diretoria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714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Ausência de soluções tecnológicas integradas para esse contexto específico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Questão de Pesquisa e 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Como um ecossistema digital integrado pode qualificar a gestão 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99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associados e eventos sociais em entidades tradicionalistas gaúchas?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39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Objetivo Geral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3522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Desenvolver e avaliar um ecossistema digital entidade-associado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92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Objetivos Específicos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a) Identificar requisitos de gestão de associados, mensalidades e eventos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b) Descrever a arquitetura e componentes do ecossistema proposto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286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c) Implementar as funcionalidades básicas do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126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d) Avaliar o sistema com usuários reais do CPF Pia do Sul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Fundamentação Teórica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D6B"/>
                </a:solidFill>
              </a:rPr>
              <a:t>Entidades Tradicionalistas e Terceiro Setor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Organizações sem fins lucrativos, gestão voluntária, desafios de sustentabilidade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214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0545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D6B"/>
                </a:solidFill>
              </a:rPr>
              <a:t>Sistemas de Informação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169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Suporte à decisão, redução de retrabalho, memória organizacional (Laudon; DeLone)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0098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850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D6B"/>
                </a:solidFill>
              </a:rPr>
              <a:t>Ecossistemas Digitais e Plataformas Integradas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9651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Integração de múltiplas funcionalidades; relação entidade-associado (Gawer; Jacobides)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646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D6B"/>
                </a:solidFill>
              </a:rPr>
              <a:t>Transformação Digital em Organizações Culturais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7608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Equilíbrio entre modernização e preservação identitária (Vial; Hinings)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01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Maturidade digital dos usuários como requisito de projeto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Metodologia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Pesquisa aplicada e qualitativa  |  Estudo de caso: CPF Pia do Sul, Santa Maria/RS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99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939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Três etapas sequenciais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1.  Levantamento de requisitos — entrevistas, análise documental, observação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3522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2.  Desenvolvimento do MVP — abordagem DSDM com priorização MoSCoW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92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3.  Avaliação com usuários — SUS + entrevistas + observação de cenários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873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Por que DSDM?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Prazo de entrega fixo (defesa do TCC) com escopo variável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286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Must / Should / Could / Won't — garante entrega do núcleo essencial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126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967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Participantes da avaliação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6 a 10 pessoas: diretoria, responsáveis por eventos e associados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Arquitetura do Ecossistema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325880"/>
            <a:ext cx="2743200" cy="6858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Next.js
Painel Web (Admin)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325880"/>
            <a:ext cx="3200400" cy="6858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13716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React Native + Expo
App Mobile (Associado)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</a:rPr>
              <a:t>HTTP / REST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468880"/>
            <a:ext cx="502920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514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NestJS – API REST
Controllers / Guards / DTOs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291840"/>
            <a:ext cx="5029200" cy="5943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3375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Camada de Aplicação  –  Use Cases / 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023360"/>
            <a:ext cx="5029200" cy="594360"/>
          </a:xfrm>
          <a:prstGeom prst="rect">
            <a:avLst/>
          </a:prstGeom>
          <a:solidFill>
            <a:srgbClr val="1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4069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Camada de Domínio  –  Entidades · Regras · Invariantes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4983480"/>
            <a:ext cx="2286000" cy="5943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5029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PostgreSQL
via TypeORM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4983480"/>
            <a:ext cx="2286000" cy="5943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5029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Serviços Externos
Gateways de Pagamento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</a:rPr>
              <a:t>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</a:rPr>
              <a:t>Adapter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6DB4"/>
                </a:solidFill>
              </a:rPr>
              <a:t>TypeScript em todas as camadas  |  JWT + RBAC  |  API REST documentada via Swagger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Stack Tecnológica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NestJS (Node.js + TypeScript)  —  arquitetura modular, injeção de dependências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PostgreSQL + TypeORM  —  persistência relacional, migrations versionadas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JWT + RBAC  —  autenticação e controle de acesso por perfil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3522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92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Frontend Web (Admin)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764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Next.js  —  SSR/SSG, roteamento por sistema de arquivos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React Query + Tailwind CSS + shadcn/ui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2861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Mobile (Associado)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858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React Native + Expo  —  Android e iOS a partir de uma base TypeScript única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98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TypeScript unificado em todas as camadas: compartilhamento de tipos e contratos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Requisitos Funcionais (MoSCoW)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Must Have — núcleo do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Cadastro, edição e controle de status de associados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Registro e histórico de mensalidades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Cadastro de eventos (bailes/fandangos) e configuração de mesas/ingressos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3522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Reserva de mesa e compra de ingresso (fluxo administrativo mediado)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92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App mobile: autenticação, dados cadastrais, reservas e eventos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873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Should 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Relatório de inadimplência  |  Disponibilidade de mesas em tempo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286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Comprovante de pagamento  |  API documentada via Swagger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126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967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Won't Have (neste trabalho)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Integração com CIT/MTG  |  Rodeios artísticos  |  Pagamento direto no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Resultados Esperados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Entregas do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Painel web administrativo (Next.js): associados, mensalidades, eventos, reservas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App mobile do associado (React Native): dados, mensalidades, eventos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API REST (NestJS + PostgreSQL): casos de uso, auth JWT, Swagger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3522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92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Critérios de sucesso da avaliação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764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Redução do retrabalho administrativo vs. fluxo atual (planilhas/físico)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Facilidade de uso e clareza das interfaces (SUS + entrevistas)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Rapidez para consultar mensalidades e realizar reservas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286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Aceitação pelos usuários da entidade — incluindo perfis com menor maturidade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126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967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</a:rPr>
              <a:t>Contribuição acadêmica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  •  Demonstrar que digitalização e preservação cultural coexistem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Cronograma — TCC 2026/2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1234440"/>
            <a:ext cx="1143000" cy="34747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2344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Jul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34440"/>
            <a:ext cx="1143000" cy="34747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Ago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234440"/>
            <a:ext cx="1143000" cy="34747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2344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234440"/>
            <a:ext cx="1143000" cy="34747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2344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1143000" cy="34747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2344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Nov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18488"/>
            <a:ext cx="4983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5506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Levantamento de requisitos (CPF Pia do Sul)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161848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59" y="1691640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61848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161848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61848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161848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020824"/>
            <a:ext cx="4983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05740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Modelagem do banco de dados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2020824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94959" y="2093976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2020824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2020824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2020824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0" y="2020824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423160"/>
            <a:ext cx="4983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45973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Setup do ambiente (repositório, CI)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242316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94959" y="2496312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242316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60" y="242316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242316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58400" y="242316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2825496"/>
            <a:ext cx="4983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8620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Dev: módulo Associados + Mensalidades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2825496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94959" y="2898648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2825496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79" y="2898648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80960" y="2825496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69680" y="2825496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400" y="2825496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3227832"/>
            <a:ext cx="4983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326440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Dev: módulo Eventos + Reservas + Ingressos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227832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227832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3679" y="3300984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80960" y="3227832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3300984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869680" y="3227832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58400" y="3227832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3630168"/>
            <a:ext cx="4983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36667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Dev: app mobile do associado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3630168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92240" y="3630168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80960" y="3630168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0" y="3703320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69680" y="3630168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58400" y="3630168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4032504"/>
            <a:ext cx="4983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406908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Integração e testes funcionais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0" y="4032504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92240" y="4032504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680960" y="4032504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772400" y="4105656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69680" y="4032504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61119" y="4105656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058400" y="4032504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4434840"/>
            <a:ext cx="4983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44714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Avaliação com usuários (SUS + entrevistas)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03520" y="4434840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92240" y="4434840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680960" y="4434840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869680" y="4434840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61119" y="4507992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58400" y="4434840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74320" y="4837176"/>
            <a:ext cx="4983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" y="48737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Análise dos resultados e ajustes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03520" y="4837176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92240" y="4837176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80960" y="4837176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869680" y="4837176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961119" y="4910328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058400" y="4837176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239512"/>
            <a:ext cx="4983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" y="52760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Escrita da monografia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03520" y="5239512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394959" y="5312664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92240" y="5239512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83679" y="5312664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80960" y="5239512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72400" y="5312664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869680" y="5239512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61119" y="5312664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58400" y="5239512"/>
            <a:ext cx="1143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149840" y="5312664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74320" y="5641848"/>
            <a:ext cx="4983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0040" y="56784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Revisão final e entrega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03520" y="564184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92240" y="564184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680960" y="564184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869680" y="564184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58400" y="564184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149840" y="5715000"/>
            <a:ext cx="960120" cy="219456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27432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Considerações Finais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Proposta aplicada com parceria real: CPF Pia do Sul, Santa Maria/RS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7063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Arquitetura sólida (Hexagonal + Clean Architecture) com stack moderna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9242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Metodologia estruturada em 3 etapas claras — requisitos, MVP, avaliação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1421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Inovação tecnológica e preservação cultural como elementos complementares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</a:rPr>
              <a:t>Yuri Garcia Baptista  |  yurigamergarcia@gmail.com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