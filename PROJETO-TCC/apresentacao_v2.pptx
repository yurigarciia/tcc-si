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2331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88952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45152"/>
            <a:ext cx="12188952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960C"/>
                </a:solidFill>
              </a:rPr>
              <a:t>ANTONIO MENEGHETTI FACULDADE  |  Sistemas de Informação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BB"/>
                </a:solidFill>
              </a:rPr>
              <a:t>Projeto de Trabalho de Conclusão de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Desenvolvimento e Avaliação de um
Ecossistema Digital para Gestão de
Associados e Eventos em Entidades
TradicionalistasGaúchas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Yuri Garcia Baptista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13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960C"/>
                </a:solidFill>
              </a:rPr>
              <a:t>Orientador: Prof. Dr. Felipe Becker Nunes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AA"/>
                </a:solidFill>
              </a:rPr>
              <a:t>Restinga Seca, RS  · 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Contextualização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960C"/>
                </a:solidFill>
              </a:rPr>
              <a:t>O Movimento Tradicionalista Gaúcho e o desafio da gestão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474720" cy="164592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291839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+1.700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9113"/>
            <a:ext cx="3291839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entidades
filiadas no 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474720" cy="1645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3291839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100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09113"/>
            <a:ext cx="3291839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eventos
por 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3474720" cy="164592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19072"/>
            <a:ext cx="3291839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R$ 1,5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09113"/>
            <a:ext cx="3291839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movimentados
por 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11457432" cy="36576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</a:rPr>
              <a:t>Associados, invernadas artísticas, bailes e fandangos sustentam uma identidade cultural única no Brasil.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5394960" cy="38404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15383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Gestão ainda manual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44568"/>
            <a:ext cx="5394960" cy="1947672"/>
          </a:xfrm>
          <a:prstGeom prst="rect">
            <a:avLst/>
          </a:prstGeom>
          <a:solidFill>
            <a:srgbClr val="F2D6D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Planilhas, fichas físicas e comunicação informal.
Retrabalho, inconsistências e baixa rastreabilidade.
Dificuldade na continuidade com troca de diretoria.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60520"/>
            <a:ext cx="5422392" cy="38404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215383"/>
            <a:ext cx="5202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Lacuna tecnológica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44568"/>
            <a:ext cx="5422392" cy="1947672"/>
          </a:xfrm>
          <a:prstGeom prst="rect">
            <a:avLst/>
          </a:prstGeom>
          <a:solidFill>
            <a:srgbClr val="FDF0C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17720"/>
            <a:ext cx="514807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Não existe sistema integrado específico para
entidades tradicionalistas gaúchas.
Gestores voluntários sobrecarregados.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Objetivos da Pesquisa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57432" cy="11430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09728" cy="11430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Como um ecossistema digital integrado pode qualificar a gestão de associados
e eventos sociais em entidades tradicionalistas gaúchas?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11457432" cy="594360"/>
          </a:xfrm>
          <a:prstGeom prst="rect">
            <a:avLst/>
          </a:prstGeom>
          <a:solidFill>
            <a:srgbClr val="F5F0E8"/>
          </a:solidFill>
          <a:ln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52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</a:rPr>
              <a:t>Objetivo Geral: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5292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Desenvolver e avaliar um ecossistema digital entidade-associado para o contexto das entidades tradicionalistas gaúchas.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5577840" cy="1234440"/>
          </a:xfrm>
          <a:prstGeom prst="rect">
            <a:avLst/>
          </a:prstGeom>
          <a:solidFill>
            <a:srgbClr val="F5F0E8"/>
          </a:solidFill>
          <a:ln>
            <a:solidFill>
              <a:srgbClr val="BB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02920" cy="12344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9136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Identificar requisitos de gestão de associados, mensalidades e eventos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566160"/>
            <a:ext cx="5577840" cy="1234440"/>
          </a:xfrm>
          <a:prstGeom prst="rect">
            <a:avLst/>
          </a:prstGeom>
          <a:solidFill>
            <a:srgbClr val="F5F0E8"/>
          </a:solidFill>
          <a:ln>
            <a:solidFill>
              <a:srgbClr val="BB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02920" cy="12344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136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947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Descrever a arquitetura e componentes do ecossistema proposto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56048"/>
            <a:ext cx="5577840" cy="1234440"/>
          </a:xfrm>
          <a:prstGeom prst="rect">
            <a:avLst/>
          </a:prstGeom>
          <a:solidFill>
            <a:srgbClr val="F5F0E8"/>
          </a:solidFill>
          <a:ln>
            <a:solidFill>
              <a:srgbClr val="BB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56048"/>
            <a:ext cx="502920" cy="12344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303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8464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Implementar as funcionalidades básicas do MVP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56048"/>
            <a:ext cx="5577840" cy="1234440"/>
          </a:xfrm>
          <a:prstGeom prst="rect">
            <a:avLst/>
          </a:prstGeom>
          <a:solidFill>
            <a:srgbClr val="F5F0E8"/>
          </a:solidFill>
          <a:ln>
            <a:solidFill>
              <a:srgbClr val="BB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56048"/>
            <a:ext cx="502920" cy="12344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303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18464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Avaliar o sistema com usuários reais do CPF Pia do Sul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960C"/>
                </a:solidFill>
              </a:rPr>
              <a:t>Pesquisa aplicada e qualitativa  ·  Estudo de caso: CPF Pia do Sul, Santa Maria/RS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57200" cy="16002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0710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63040"/>
            <a:ext cx="3200400" cy="1600200"/>
          </a:xfrm>
          <a:prstGeom prst="rect">
            <a:avLst/>
          </a:prstGeom>
          <a:solidFill>
            <a:srgbClr val="F5F0E8"/>
          </a:solidFill>
          <a:ln>
            <a:solidFill>
              <a:srgbClr val="CC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</a:rPr>
              <a:t>Levantamento de 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29260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Entrevistas semiestruturadas
Análise documental
Observação dos processos atuais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457200" cy="1600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00710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463040"/>
            <a:ext cx="3200400" cy="1600200"/>
          </a:xfrm>
          <a:prstGeom prst="rect">
            <a:avLst/>
          </a:prstGeom>
          <a:solidFill>
            <a:srgbClr val="F5F0E8"/>
          </a:solidFill>
          <a:ln>
            <a:solidFill>
              <a:srgbClr val="CC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</a:rPr>
              <a:t>Desenvolvimento do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847088"/>
            <a:ext cx="29260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Abordagem DSDM
Timeboxing + priorização MoSCoW
Ciclos curtos com validação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457200" cy="160020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0710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463040"/>
            <a:ext cx="3200400" cy="1600200"/>
          </a:xfrm>
          <a:prstGeom prst="rect">
            <a:avLst/>
          </a:prstGeom>
          <a:solidFill>
            <a:srgbClr val="F5F0E8"/>
          </a:solidFill>
          <a:ln>
            <a:solidFill>
              <a:srgbClr val="CC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</a:rPr>
              <a:t>Avaliação com Usuários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847088"/>
            <a:ext cx="29260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System Usability Scale (SUS)
Entrevistas semiestruturadas
Observação de cenários de uso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1031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960C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031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960C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46120"/>
            <a:ext cx="11457432" cy="54864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Por que DSDM?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947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O TCC tem prazo de entrega fixo e escopo variável — exatamente o cenário para o qual o DSDM foi projetado.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29000"/>
            <a:ext cx="1325880" cy="26060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4930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950208"/>
            <a:ext cx="1188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Essencial para o MVP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90688" y="3429000"/>
            <a:ext cx="1325880" cy="260604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4930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Should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950208"/>
            <a:ext cx="1188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Importante, negociável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3429000"/>
            <a:ext cx="1325880" cy="2606040"/>
          </a:xfrm>
          <a:prstGeom prst="rect">
            <a:avLst/>
          </a:prstGeom>
          <a:solidFill>
            <a:srgbClr val="9B5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3728" y="34930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Could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950208"/>
            <a:ext cx="1188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Desejável se possível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0464" y="3429000"/>
            <a:ext cx="1325880" cy="26060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43616" y="34930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Won't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3616" y="3950208"/>
            <a:ext cx="1188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Fora do escopo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11457432" cy="6400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08990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Participantes da avaliação:  6 a 10 pessoas  —  membros da diretoria, responsáveis por eventos e associados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do Ecossistema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960C"/>
                </a:solidFill>
              </a:rPr>
              <a:t>Hexagonal Architecture + Clean Architecture  ·  API RESTful  ·  TypeScript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10058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Painel Web
(Administração)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463040"/>
            <a:ext cx="3200400" cy="10058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 Native +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0195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App Mobile
(Associado)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HTTP / REST 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▼ HTTP / 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606040"/>
            <a:ext cx="5943600" cy="914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697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NestJS — 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44952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Controllers  ·  Guards  ·  DTOs  ·  Swagger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6118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0C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023360"/>
            <a:ext cx="5943600" cy="77724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Camada de Aplicação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62272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Use Cases  ·  Ports  ·  Orquestração de fluxos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0C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230368"/>
            <a:ext cx="5943600" cy="777240"/>
          </a:xfrm>
          <a:prstGeom prst="rect">
            <a:avLst/>
          </a:prstGeom>
          <a:solidFill>
            <a:srgbClr val="3A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5230368"/>
            <a:ext cx="109728" cy="7772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5230368"/>
            <a:ext cx="109728" cy="7772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52669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960C"/>
                </a:solidFill>
              </a:rPr>
              <a:t>Camada de Domínio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577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F0E8"/>
                </a:solidFill>
              </a:rPr>
              <a:t>Entidades  ·  Regras de Negócio  ·  Invariantes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0368"/>
            <a:ext cx="2377440" cy="13258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218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79"/>
            <a:ext cx="21945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via TypeORM
Adapter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5230368"/>
            <a:ext cx="2377440" cy="13258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19" y="53218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Serviços Externos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5669279"/>
            <a:ext cx="21945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EEEEE"/>
                </a:solidFill>
              </a:rPr>
              <a:t>Gateways de Pagamento
Adapter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754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754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745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TypeScript unificado em todas as camadas  ·  JWT + RBAC  ·  API documentada via Swagger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Stack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91440" cy="13258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NestJS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0603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Framework Node.js, arquitetura modular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39"/>
            <a:ext cx="3749039" cy="1325880"/>
          </a:xfrm>
          <a:prstGeom prst="rect">
            <a:avLst/>
          </a:prstGeom>
          <a:solidFill>
            <a:srgbClr val="F0EDE8"/>
          </a:solidFill>
          <a:ln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520439"/>
            <a:ext cx="91440" cy="13258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301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TypeORM +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5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ORM + BD relacional, migrations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91440" cy="13258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0474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JWT + RBAC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40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Autenticação e controle de acesso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1463040"/>
            <a:ext cx="3749039" cy="50292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Frontend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210312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2103120"/>
            <a:ext cx="91440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212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Next.js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60603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SSR/SSG, roteamento por arquivo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520439"/>
            <a:ext cx="3749039" cy="1325880"/>
          </a:xfrm>
          <a:prstGeom prst="rect">
            <a:avLst/>
          </a:prstGeom>
          <a:solidFill>
            <a:srgbClr val="F0EDE8"/>
          </a:solidFill>
          <a:ln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3520439"/>
            <a:ext cx="91440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6301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React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02335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Cache e estado de dados remotos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493776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4937760"/>
            <a:ext cx="91440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50474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Tailwind + shadcn/ui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5440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Estilização e componentes acessíveis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6" y="1463040"/>
            <a:ext cx="3749039" cy="50292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6" y="210312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5C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66176" y="2103120"/>
            <a:ext cx="91440" cy="132588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2128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1E"/>
                </a:solidFill>
              </a:rPr>
              <a:t>React Native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260603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Código nativo multiplataforma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66176" y="3520439"/>
            <a:ext cx="3749039" cy="1325880"/>
          </a:xfrm>
          <a:prstGeom prst="rect">
            <a:avLst/>
          </a:prstGeom>
          <a:solidFill>
            <a:srgbClr val="F0EDE8"/>
          </a:solidFill>
          <a:ln>
            <a:solidFill>
              <a:srgbClr val="5C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66176" y="3520439"/>
            <a:ext cx="91440" cy="132588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36301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1E"/>
                </a:solidFill>
              </a:rPr>
              <a:t>Expo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4023359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Android e iOS de uma só base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66176" y="4937760"/>
            <a:ext cx="3749039" cy="1325880"/>
          </a:xfrm>
          <a:prstGeom prst="rect">
            <a:avLst/>
          </a:prstGeom>
          <a:solidFill>
            <a:srgbClr val="F5F0E8"/>
          </a:solidFill>
          <a:ln>
            <a:solidFill>
              <a:srgbClr val="5C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66176" y="4937760"/>
            <a:ext cx="91440" cy="1325880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50474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1E"/>
                </a:solidFill>
              </a:rPr>
              <a:t>TypeScript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7344" y="5440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Compartilhamento de tipos com backend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400800"/>
            <a:ext cx="11457432" cy="25603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2823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TypeScript end-to-end — compartilhamento de tipos, contratos e consistência entre todas as camadas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Requisitos Funcionais — Priorização MoSCoW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71323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Gestão de
Associados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76272"/>
            <a:ext cx="3749039" cy="4343400"/>
          </a:xfrm>
          <a:prstGeom prst="rect">
            <a:avLst/>
          </a:prstGeom>
          <a:solidFill>
            <a:srgbClr val="D6E8D8"/>
          </a:solidFill>
          <a:ln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233172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359151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67919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Cadastro, edição e status do associado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65760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68503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0050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Consulta e filtros de associados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983479"/>
            <a:ext cx="777240" cy="29260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109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SHOULD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3095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Registro de dependentes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463040"/>
            <a:ext cx="3749039" cy="71323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Controle de
Mensalidades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176272"/>
            <a:ext cx="3749039" cy="4343400"/>
          </a:xfrm>
          <a:prstGeom prst="rect">
            <a:avLst/>
          </a:prstGeom>
          <a:solidFill>
            <a:srgbClr val="F2D6D6"/>
          </a:solidFill>
          <a:ln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233172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359151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7919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Registro de pagamentos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65760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050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Histórico por associado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983479"/>
            <a:ext cx="777240" cy="29260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0109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SHOULD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3095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Relatório de inadimplência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1463040"/>
            <a:ext cx="3749039" cy="713232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1508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Eventos e
Reservas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2176272"/>
            <a:ext cx="3749039" cy="4343400"/>
          </a:xfrm>
          <a:prstGeom prst="rect">
            <a:avLst/>
          </a:prstGeom>
          <a:solidFill>
            <a:srgbClr val="FDF0C8"/>
          </a:solidFill>
          <a:ln>
            <a:solidFill>
              <a:srgbClr val="5C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30768" y="233172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2359151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267919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Cadastro de bailes e fandangos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3657600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368503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40050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Reserva de mesa (fluxo mediado)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8" y="4983479"/>
            <a:ext cx="777240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50109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5330951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App: consultar reservas e eventos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446520"/>
            <a:ext cx="11457432" cy="2743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83096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Won't Have:  integração CIT/MTG  ·  pagamento direto no app  ·  rodeios artísticos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960C"/>
                </a:solidFill>
              </a:rPr>
              <a:t>Entregas do MVP + Critérios de sucesso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3152" cy="51206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ENTREGAS DO MVP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5166360" cy="1325880"/>
          </a:xfrm>
          <a:prstGeom prst="rect">
            <a:avLst/>
          </a:prstGeom>
          <a:solidFill>
            <a:srgbClr val="F5F0E8"/>
          </a:solidFill>
          <a:ln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73152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Painel Web (Next.js)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Associados · Mensalidades · Eventos · Reservas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166360" cy="1325880"/>
          </a:xfrm>
          <a:prstGeom prst="rect">
            <a:avLst/>
          </a:prstGeom>
          <a:solidFill>
            <a:srgbClr val="F5F0E8"/>
          </a:solidFill>
          <a:ln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74720"/>
            <a:ext cx="73152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0273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App Mobile (Expo)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Autenticação · Dados · Reservas · Eventos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60"/>
            <a:ext cx="5166360" cy="1325880"/>
          </a:xfrm>
          <a:prstGeom prst="rect">
            <a:avLst/>
          </a:prstGeom>
          <a:solidFill>
            <a:srgbClr val="F5F0E8"/>
          </a:solidFill>
          <a:ln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73152" cy="13258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6577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A2A"/>
                </a:solidFill>
              </a:rPr>
              <a:t>API REST (NestJS)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Casos de uso · JWT · Swagger · TypeORM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463040"/>
            <a:ext cx="54864" cy="51206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</a:rPr>
              <a:t>CRITÉRIOS DE SUCESSO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057400"/>
            <a:ext cx="347472" cy="34747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066543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0756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Redução do retrabalho administrativo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90088"/>
            <a:ext cx="347472" cy="34747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99923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00837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Facilidade de uso (SUS + entrevistas)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22776"/>
            <a:ext cx="347472" cy="34747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93192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941063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Clareza das informações nas interfaces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55464"/>
            <a:ext cx="347472" cy="34747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8646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87375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Rapidez para consultar mensalidades e reservas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788152"/>
            <a:ext cx="347472" cy="347472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79729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58064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Aceitação pelos usuários — incluindo
perfis com menor maturidade digital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Cronograma — TCC 2026/2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960C"/>
                </a:solidFill>
              </a:rPr>
              <a:t>Roadmap de entregas incrementais alinhado ao DSDM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417320"/>
            <a:ext cx="1316736" cy="38404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4356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Jul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417320"/>
            <a:ext cx="1316736" cy="38404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4356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98663" y="1417320"/>
            <a:ext cx="1316736" cy="38404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3" y="14356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1976" y="1417320"/>
            <a:ext cx="1316736" cy="38404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14356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05288" y="1417320"/>
            <a:ext cx="1316736" cy="38404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05288" y="14356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37944"/>
            <a:ext cx="4535424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1911096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Levantamento de requisitos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837944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79" y="1911096"/>
            <a:ext cx="1133856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1837944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98663" y="1837944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1837944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05288" y="1837944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313432"/>
            <a:ext cx="4535424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386584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Modelagem do banco de dados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313432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79" y="2386584"/>
            <a:ext cx="1133856" cy="292608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2313432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98663" y="2313432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51976" y="2313432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05288" y="2313432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788920"/>
            <a:ext cx="4535424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2862072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Dev: Associados + Mensalidades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788920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83479" y="2862072"/>
            <a:ext cx="1133856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45352" y="2788920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6792" y="2862072"/>
            <a:ext cx="1133856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98663" y="2788920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51976" y="2788920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05288" y="2788920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3264408"/>
            <a:ext cx="4535424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3337560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Dev: Eventos + Reservas + Ingressos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3264408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3264408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6792" y="3337560"/>
            <a:ext cx="1133856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98663" y="3264408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90103" y="3337560"/>
            <a:ext cx="1133856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51976" y="3264408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05288" y="3264408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3739896"/>
            <a:ext cx="4535424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3813048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Dev: App Mobile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3739896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45352" y="3739896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98663" y="3739896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90103" y="3813048"/>
            <a:ext cx="1133856" cy="2926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51976" y="3739896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05288" y="3739896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4215384"/>
            <a:ext cx="4535424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" y="4288536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Testes funcionais e integração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92040" y="4215384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45352" y="4215384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98663" y="4215384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90103" y="4288536"/>
            <a:ext cx="1133856" cy="29260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51976" y="4215384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43415" y="4288536"/>
            <a:ext cx="1133856" cy="29260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05288" y="4215384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4690872"/>
            <a:ext cx="4535424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768" y="4764024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Avaliação com usuários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92040" y="4690872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45352" y="4690872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98663" y="4690872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51976" y="4690872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43415" y="4764024"/>
            <a:ext cx="1133856" cy="292608"/>
          </a:xfrm>
          <a:prstGeom prst="rect">
            <a:avLst/>
          </a:prstGeom>
          <a:solidFill>
            <a:srgbClr val="5C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305288" y="4690872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0040" y="5166360"/>
            <a:ext cx="4535424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5239512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Escrita da monografia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92040" y="5166360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83479" y="5239512"/>
            <a:ext cx="1133856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45352" y="5166360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36792" y="5239512"/>
            <a:ext cx="1133856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98663" y="5166360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90103" y="5239512"/>
            <a:ext cx="1133856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51976" y="5166360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43415" y="5239512"/>
            <a:ext cx="1133856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305288" y="5166360"/>
            <a:ext cx="1316736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96728" y="5239512"/>
            <a:ext cx="1133856" cy="292608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040" y="5641848"/>
            <a:ext cx="4535424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" y="5715000"/>
            <a:ext cx="4370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Entrega da monografia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5641848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45352" y="5641848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98663" y="5641848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951976" y="5641848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305288" y="5641848"/>
            <a:ext cx="1316736" cy="43891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396728" y="5715000"/>
            <a:ext cx="1133856" cy="29260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20040" y="6108192"/>
            <a:ext cx="11503152" cy="59436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6217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Milestones:  Requisitos + Modelagem até Jul/26  ·  MVP completo até Set/26  ·  Avaliação até Out/26  ·  Entrega Nov/26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960C"/>
                </a:solidFill>
              </a:rPr>
              <a:t>Yuri Garcia Baptista  ·  yurigamergarcia@gmail.com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BB"/>
                </a:solidFill>
              </a:rPr>
              <a:t>Orientador: Prof. Dr. Felipe Becker Nunes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577840" cy="1417320"/>
          </a:xfrm>
          <a:prstGeom prst="rect">
            <a:avLst/>
          </a:prstGeom>
          <a:solidFill>
            <a:srgbClr val="0F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" cy="14173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Proposta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7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0E8"/>
                </a:solidFill>
              </a:rPr>
              <a:t>Parceria real com o CPF Pia do Sul, Santa Maria/RS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577840" cy="1417320"/>
          </a:xfrm>
          <a:prstGeom prst="rect">
            <a:avLst/>
          </a:prstGeom>
          <a:solidFill>
            <a:srgbClr val="0F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017520"/>
            <a:ext cx="109728" cy="14173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Arquitetura sólida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1187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0E8"/>
                </a:solidFill>
              </a:rPr>
              <a:t>Hexagonal + Clean Architecture + stack TypeScript moderna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577840" cy="1417320"/>
          </a:xfrm>
          <a:prstGeom prst="rect">
            <a:avLst/>
          </a:prstGeom>
          <a:solidFill>
            <a:srgbClr val="0F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09728" cy="14173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Metodologia clara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0E8"/>
                </a:solidFill>
              </a:rPr>
              <a:t>3 etapas: requisitos → MVP → avaliação com usuários reais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577840" cy="1417320"/>
          </a:xfrm>
          <a:prstGeom prst="rect">
            <a:avLst/>
          </a:prstGeom>
          <a:solidFill>
            <a:srgbClr val="0F2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663440"/>
            <a:ext cx="109728" cy="141732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846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0C"/>
                </a:solidFill>
              </a:rPr>
              <a:t>Contribuição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257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0E8"/>
                </a:solidFill>
              </a:rPr>
              <a:t>Modernização administrativa sem perda da identidade cultural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